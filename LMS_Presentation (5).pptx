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457200" y="502920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RAJIV GANDHI UNIVERSITY OF KNOWLEDGE TECHNOLOGIES-BASAR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112772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SCIENCE AND ENGINEERING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0728655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TITLE : </a:t>
            </a:r>
            <a:r>
              <a:rPr lang="en-US" sz="27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Management System – Resilient Full-Stack</a:t>
            </a:r>
            <a:endParaRPr lang="en-US" sz="27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E-Learning Platform with Local Database Fallback</a:t>
            </a:r>
            <a:endParaRPr lang="en-US" sz="2700" dirty="0"/>
          </a:p>
        </p:txBody>
      </p:sp>
      <p:pic>
        <p:nvPicPr>
          <p:cNvPr id="9" name="Image 0" descr="/home/claude/work/rgukt_logo_rgb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488" y="3017520"/>
            <a:ext cx="1188720" cy="1188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709160"/>
            <a:ext cx="3474720" cy="12426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FACULTY REVIEWER</a:t>
            </a:r>
            <a:endParaRPr lang="en-US" sz="1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MRS. UDDAMARI NAGAMANI</a:t>
            </a:r>
            <a:endParaRPr lang="en-US" sz="1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(Assistant Professor)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58150" y="4709160"/>
            <a:ext cx="3463290" cy="1242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SUBMITTED BY:
</a:t>
            </a:r>
            <a:r>
              <a:rPr lang="en-US" sz="14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Sravan Kumar Juluri   (B210825)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411480"/>
            <a:ext cx="121916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INTERNSHIP DETAILS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Title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6217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Management System (LMS)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76272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Organization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76272"/>
            <a:ext cx="6217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3Skill – India's Leading EdTech 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752344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Submitted By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752344"/>
            <a:ext cx="6217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Sravan Kumar Juluri (B210825)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328416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Reviewer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328416"/>
            <a:ext cx="6217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Mrs. Nagamani, Assistant Professor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904488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Head of Department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904488"/>
            <a:ext cx="6217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Dr. B. Venkat Raman, Assistant Professor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48056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11090" y="4480560"/>
            <a:ext cx="6217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Science and Engineering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056632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University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5056632"/>
            <a:ext cx="6217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Rajiv Gandhi University of Knowledge Technologies, Basar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5632704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Report Date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37760" y="5632704"/>
            <a:ext cx="6217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 July 2026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457200"/>
            <a:ext cx="121916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0" y="1234440"/>
            <a:ext cx="121916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LMS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693615" y="1965960"/>
            <a:ext cx="66751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resilient, full-stack Learning Management System connecting</a:t>
            </a:r>
            <a:endParaRPr lang="en-US" sz="1400" dirty="0"/>
          </a:p>
          <a:p>
            <a:pPr marL="0" indent="0" algn="r">
              <a:buNone/>
            </a:pPr>
            <a:r>
              <a:rPr lang="en-US" sz="1400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instructors and students through a secure, modern e-learning interface.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10545775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project presents a responsive, full-stack Learning Management System (LMS) designed to connect instructors and students through a secure and modern e-learning interface. Built with a Node.js and Express REST API backend and a lightweight vanilla HTML5, CSS3, and JavaScript frontend, the platform provides seamless dashboard navigation, secure authentication, course management, video rendering, and progress tracking.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411480"/>
            <a:ext cx="121916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10180015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0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E-learning software implementations encounter three critical issues: cloud database vulnerability, where the server crashes if network or credentials fail; third-party media embed restrictions, where standard iframe embeds of YouTube videos trigger X-Frame-Options blocking; and inefficient progress tracking, which requires mapping student progress across courses without duplicate records. The absence of resilient, well-engineered solutions to these issues disrupts staging evaluations, breaks video playback, and reduces the reliability and usability of e-learning platforms.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411480"/>
            <a:ext cx="121916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303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Secure Authentication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53035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Role-based login for Students and Instructors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JSON Web Tokens (JWT – secure digital login passes) with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BcryptJS (a tool that scrambles passwords) hashing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1600200"/>
            <a:ext cx="5303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Course Management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0" y="2167128"/>
            <a:ext cx="53035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Instructors perform CRUD (Create, Read, Update, Delete)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operations on courses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search and view the full course catalog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5303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Resilient Database Fallback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4133088"/>
            <a:ext cx="53035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 mockDB.js adapter (a backup data-storage script)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overrides Mongoose (the tool that connects to MongoDB) functions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Auto-switches to local db.json when MongoDB Atlas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(the cloud database) is unavailable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3566160"/>
            <a:ext cx="5303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YouTube Embed Converter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0" y="4133088"/>
            <a:ext cx="53035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Regex (a text pattern-matching rule) utility converts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watch/short links to embeds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Bypasses X-Frame-Options (a browser security rule) blocking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smooth playback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411480"/>
            <a:ext cx="121916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5303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Progress Tracking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304288"/>
            <a:ext cx="53035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Compound index (a database rule combining two fields)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 student &amp; course prevents duplicate logs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Progress initializes at 10% and completes at 100%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5303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Certificate Generation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0" y="2304288"/>
            <a:ext cx="53035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Dynamic printable Certificate of Completion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Auto-generated once a student reaches 100% progress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5303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Hardened RBAC (Role-Based Access</a:t>
            </a:r>
            <a:endParaRPr lang="en-US" sz="19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Control) Middleware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4270248"/>
            <a:ext cx="53035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authMiddleware.js (checkpoint code) validates JWT signatures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roleMiddleware.js enforces route-level role checks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411480"/>
            <a:ext cx="121916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TECHNOLOGIES USED</a:t>
            </a:r>
            <a:endParaRPr lang="en-US" sz="3600" dirty="0"/>
          </a:p>
        </p:txBody>
      </p:sp>
      <p:pic>
        <p:nvPicPr>
          <p:cNvPr id="7" name="Image 0" descr="/home/claude/work/icon_nodej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070" y="155448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423160"/>
            <a:ext cx="2072579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NODE.JS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225545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runs JavaScript on the server</a:t>
            </a:r>
            <a:endParaRPr lang="en-US" sz="950" dirty="0"/>
          </a:p>
        </p:txBody>
      </p:sp>
      <p:pic>
        <p:nvPicPr>
          <p:cNvPr id="10" name="Image 1" descr="/home/claude/work/icon_exp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649" y="1554480"/>
            <a:ext cx="77724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86979" y="2423160"/>
            <a:ext cx="2072579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EXPRESS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95539" y="2743200"/>
            <a:ext cx="225545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framework for building the API</a:t>
            </a:r>
            <a:endParaRPr lang="en-US" sz="950" dirty="0"/>
          </a:p>
        </p:txBody>
      </p:sp>
      <p:pic>
        <p:nvPicPr>
          <p:cNvPr id="13" name="Image 2" descr="/home/claude/work/icon_mongo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228" y="155448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59558" y="2423160"/>
            <a:ext cx="2072579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MONGODB ATLAS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968118" y="2743200"/>
            <a:ext cx="225545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 database</a:t>
            </a:r>
            <a:endParaRPr lang="en-US" sz="950" dirty="0"/>
          </a:p>
        </p:txBody>
      </p:sp>
      <p:pic>
        <p:nvPicPr>
          <p:cNvPr id="16" name="Image 3" descr="/home/claude/work/icon_mongo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807" y="1554480"/>
            <a:ext cx="777240" cy="7772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137" y="2423160"/>
            <a:ext cx="2072579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MONGOOSE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040697" y="2743200"/>
            <a:ext cx="225545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connects code to MongoDB</a:t>
            </a:r>
            <a:endParaRPr lang="en-US" sz="950" dirty="0"/>
          </a:p>
        </p:txBody>
      </p:sp>
      <p:pic>
        <p:nvPicPr>
          <p:cNvPr id="19" name="Image 4" descr="/home/claude/work/icon_jw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2386" y="1554480"/>
            <a:ext cx="777240" cy="7772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04716" y="2423160"/>
            <a:ext cx="2072579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13276" y="2743200"/>
            <a:ext cx="225545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secure login token</a:t>
            </a:r>
            <a:endParaRPr lang="en-US" sz="950" dirty="0"/>
          </a:p>
        </p:txBody>
      </p:sp>
      <p:pic>
        <p:nvPicPr>
          <p:cNvPr id="22" name="Image 5" descr="/home/claude/work/icon_bcry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070" y="3611880"/>
            <a:ext cx="777240" cy="7772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4480560"/>
            <a:ext cx="2072579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BCRYPTJS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822960" y="4800600"/>
            <a:ext cx="225545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scrambles passwords safely</a:t>
            </a:r>
            <a:endParaRPr lang="en-US" sz="950" dirty="0"/>
          </a:p>
        </p:txBody>
      </p:sp>
      <p:pic>
        <p:nvPicPr>
          <p:cNvPr id="25" name="Image 6" descr="/home/claude/work/icon_htm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4649" y="3611880"/>
            <a:ext cx="777240" cy="7772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2986979" y="4480560"/>
            <a:ext cx="2072579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HTML5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2895539" y="4800600"/>
            <a:ext cx="225545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webpage structure</a:t>
            </a:r>
            <a:endParaRPr lang="en-US" sz="950" dirty="0"/>
          </a:p>
        </p:txBody>
      </p:sp>
      <p:pic>
        <p:nvPicPr>
          <p:cNvPr id="28" name="Image 7" descr="/home/claude/work/icon_css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7228" y="3611880"/>
            <a:ext cx="777240" cy="7772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059558" y="4480560"/>
            <a:ext cx="2072579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CSS3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4968118" y="4800600"/>
            <a:ext cx="225545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webpage styling</a:t>
            </a:r>
            <a:endParaRPr lang="en-US" sz="950" dirty="0"/>
          </a:p>
        </p:txBody>
      </p:sp>
      <p:pic>
        <p:nvPicPr>
          <p:cNvPr id="31" name="Image 8" descr="/home/claude/work/icon_javascrip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9807" y="3611880"/>
            <a:ext cx="777240" cy="77724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32137" y="4480560"/>
            <a:ext cx="2072579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7040697" y="4800600"/>
            <a:ext cx="225545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webpage interactivity</a:t>
            </a:r>
            <a:endParaRPr lang="en-US" sz="950" dirty="0"/>
          </a:p>
        </p:txBody>
      </p:sp>
      <p:pic>
        <p:nvPicPr>
          <p:cNvPr id="34" name="Image 9" descr="/home/claude/work/icon_j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2386" y="361188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9204716" y="4480560"/>
            <a:ext cx="2072579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JSON (db.json)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9113276" y="4800600"/>
            <a:ext cx="2255459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local backup data file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320040"/>
            <a:ext cx="121916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24248" y="12344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4248" y="1307592"/>
            <a:ext cx="2743200" cy="32689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 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24248" y="1543507"/>
            <a:ext cx="2743200" cy="26746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HTML, CSS, JS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95848" y="1828800"/>
            <a:ext cx="0" cy="32004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58488" y="214884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8488" y="2221992"/>
            <a:ext cx="3474720" cy="32689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Express Server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58488" y="2457907"/>
            <a:ext cx="3474720" cy="26746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server.js (REST API)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95848" y="2743200"/>
            <a:ext cx="0" cy="32004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92728" y="306324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2728" y="3136392"/>
            <a:ext cx="4206240" cy="32689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 &amp; Role Middleware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92728" y="3372307"/>
            <a:ext cx="4206240" cy="26746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authMiddleware.js / roleMiddleware.js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95848" y="3657600"/>
            <a:ext cx="0" cy="32004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67048" y="397764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7048" y="4050792"/>
            <a:ext cx="3657600" cy="32689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db.js Router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67048" y="4286707"/>
            <a:ext cx="3657600" cy="26746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connectDB() with timeout watch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61208" y="4270248"/>
            <a:ext cx="1005840" cy="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24648" y="4270248"/>
            <a:ext cx="1005840" cy="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1208" y="4270248"/>
            <a:ext cx="0" cy="621792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30488" y="4270248"/>
            <a:ext cx="0" cy="621792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843888" y="48920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43888" y="4965192"/>
            <a:ext cx="2834640" cy="42748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43888" y="5296205"/>
            <a:ext cx="2834640" cy="34975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 DB — Success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513168" y="48920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3168" y="4965192"/>
            <a:ext cx="2834640" cy="427482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Local db.json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13168" y="5296205"/>
            <a:ext cx="2834640" cy="34975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6E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mockDB.js Fallback — Timeout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43888" y="429768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Success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13168" y="429768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Fail (5s Timeout)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37360" y="5943600"/>
            <a:ext cx="871697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 API = the standard way the frontend and backend exchange data   •   Middleware = checkpoint code that runs before a request is handled   •   MongoDB Atlas = the cloud database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320040"/>
            <a:ext cx="1219169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DATABASE FALLBACK LOGIC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449928" y="123444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9928" y="1234440"/>
            <a:ext cx="3291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Initialize connectDB()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1783080"/>
            <a:ext cx="9144" cy="27432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01288" y="205740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1288" y="205740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Connect to MongoDB Atlas (5s Timeout)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5848" y="2606040"/>
            <a:ext cx="9144" cy="32004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07128" y="2926080"/>
            <a:ext cx="2377440" cy="731520"/>
          </a:xfrm>
          <a:prstGeom prst="diamond">
            <a:avLst/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7128" y="2926080"/>
            <a:ext cx="23774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Connected?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01088" y="3291840"/>
            <a:ext cx="2606040" cy="9144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284068" y="2999232"/>
            <a:ext cx="640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01088" y="3291840"/>
            <a:ext cx="9144" cy="45720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9488" y="37490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488" y="37490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MongoDB Atlas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(Normal Mode)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84568" y="3291840"/>
            <a:ext cx="960120" cy="9144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444588" y="2999232"/>
            <a:ext cx="640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44688" y="3291840"/>
            <a:ext cx="9144" cy="45720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73088" y="37490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3088" y="3749040"/>
            <a:ext cx="2743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Activate mockDB.js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44688" y="4343400"/>
            <a:ext cx="9144" cy="45720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53048" y="480060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3048" y="4800600"/>
            <a:ext cx="3383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Intercept Mongoose Methods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44688" y="5394960"/>
            <a:ext cx="9144" cy="365760"/>
          </a:xfrm>
          <a:prstGeom prst="line">
            <a:avLst/>
          </a:prstGeom>
          <a:noFill/>
          <a:ln w="25400">
            <a:solidFill>
              <a:srgbClr val="0B5E7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70168" y="576072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2225">
            <a:solidFill>
              <a:srgbClr val="1C7A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0168" y="5760720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 / Write to db.json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37360" y="6446520"/>
            <a:ext cx="87169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mockDB.js = a backup script that mimics the database when the cloud connection fails   •   Mongoose = the tool that normally talks to MongoDB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320040"/>
            <a:ext cx="1219169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— LOGIN &amp; STUDENT DASHBOARD</a:t>
            </a:r>
            <a:endParaRPr lang="en-US" sz="3600" dirty="0"/>
          </a:p>
        </p:txBody>
      </p:sp>
      <p:pic>
        <p:nvPicPr>
          <p:cNvPr id="7" name="Image 0" descr="/home/claude/work/shot-00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" y="1280160"/>
            <a:ext cx="5227168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217920"/>
            <a:ext cx="52271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 4.1: LMS Portal Login (Role-Based)</a:t>
            </a:r>
            <a:endParaRPr lang="en-US" sz="1350" dirty="0"/>
          </a:p>
        </p:txBody>
      </p:sp>
      <p:pic>
        <p:nvPicPr>
          <p:cNvPr id="9" name="Image 1" descr="/home/claude/work/shot-002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24448" y="1280160"/>
            <a:ext cx="5227168" cy="4846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6217920"/>
            <a:ext cx="52271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 4.2: Student Dashboard — Courses &amp; Progress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320040"/>
            <a:ext cx="1219169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— COURSE PLAYER &amp; INSTRUCTOR PANEL</a:t>
            </a:r>
            <a:endParaRPr lang="en-US" sz="3600" dirty="0"/>
          </a:p>
        </p:txBody>
      </p:sp>
      <p:pic>
        <p:nvPicPr>
          <p:cNvPr id="7" name="Image 0" descr="/home/claude/work/shot-004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" y="1280160"/>
            <a:ext cx="5227168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217920"/>
            <a:ext cx="52271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 4.3: Course Player with Embedded Video</a:t>
            </a:r>
            <a:endParaRPr lang="en-US" sz="1350" dirty="0"/>
          </a:p>
        </p:txBody>
      </p:sp>
      <p:pic>
        <p:nvPicPr>
          <p:cNvPr id="9" name="Image 1" descr="/home/claude/work/shot-006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24448" y="1280160"/>
            <a:ext cx="5227168" cy="4846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6217920"/>
            <a:ext cx="52271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 4.4: Instructor Dashboard — CRUD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320040"/>
            <a:ext cx="1219169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— CERTIFICATE OF COMPLETION</a:t>
            </a:r>
            <a:endParaRPr lang="en-US" sz="3600" dirty="0"/>
          </a:p>
        </p:txBody>
      </p:sp>
      <p:pic>
        <p:nvPicPr>
          <p:cNvPr id="7" name="Image 0" descr="/home/claude/work/shot-008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352648" y="1234440"/>
            <a:ext cx="548640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95448" y="617220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 4.5: Dynamically Generated, Printable Certificate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411480"/>
            <a:ext cx="121916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SOFTWARE TESTING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822960" y="1691640"/>
          <a:ext cx="10545775" cy="4206240"/>
        </p:xfrm>
        <a:graphic>
          <a:graphicData uri="http://schemas.openxmlformats.org/drawingml/2006/table">
            <a:tbl>
              <a:tblPr/>
              <a:tblGrid>
                <a:gridCol w="1463040"/>
                <a:gridCol w="6035040"/>
                <a:gridCol w="2862072"/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Test ID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A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Description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A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Result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A9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TC02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Login with correct credentials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Pass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TC03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Access route without JWT (login token)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401 Unauthorized – Pass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TC04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Student attempts to create a course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403 Forbidden – Pass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TC05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MongoDB Atlas connection timeout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Falls back to db.json – Pass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TC07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Student updates course progress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Upserted (updated or inserted), no duplication – Pass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TC08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Standard YouTube watch URL input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Converted to embed code – Pass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TC10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Instructor deletes another's course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B5E7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403 Forbidden – Pass</a:t>
                      </a:r>
                      <a:endParaRPr lang="en-US" sz="125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737360" y="6080760"/>
            <a:ext cx="87169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7A9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401 Unauthorized = you're not logged in   •   403 Forbidden = you're logged in but not allowed to do this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411480"/>
            <a:ext cx="121916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362895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project successfully developed a responsive, full-stack Learning Management System that connects students and instructors through clean, functional dashboards, providing secure JWT-based authentication, catalog search, video streaming, progress tracking, and certificate generation. The primary contribution is a custom-designed database fallback adapter (mockDB.js) that maintains server operational status during cloud database downtime, preserving CRUD operations and ensuring staging availability. The project demonstrates software resilience engineering, secure role-based authentication, and dynamic media rendering, presenting a practical and robust template for offline-first web applications.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" y="-502920"/>
            <a:ext cx="1371600" cy="137160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3" name="Shape 1"/>
          <p:cNvSpPr/>
          <p:nvPr/>
        </p:nvSpPr>
        <p:spPr>
          <a:xfrm>
            <a:off x="10637215" y="-1005840"/>
            <a:ext cx="2377440" cy="2377440"/>
          </a:xfrm>
          <a:prstGeom prst="ellipse">
            <a:avLst/>
          </a:prstGeom>
          <a:ln w="127000">
            <a:solidFill>
              <a:srgbClr val="9AD2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737360" y="5120640"/>
            <a:ext cx="3291840" cy="3291840"/>
          </a:xfrm>
          <a:prstGeom prst="ellipse">
            <a:avLst/>
          </a:prstGeom>
          <a:solidFill>
            <a:srgbClr val="0B4258"/>
          </a:solidFill>
        </p:spPr>
      </p:sp>
      <p:sp>
        <p:nvSpPr>
          <p:cNvPr id="5" name="Shape 3"/>
          <p:cNvSpPr/>
          <p:nvPr/>
        </p:nvSpPr>
        <p:spPr>
          <a:xfrm>
            <a:off x="10911535" y="5577840"/>
            <a:ext cx="2194560" cy="2194560"/>
          </a:xfrm>
          <a:prstGeom prst="ellipse">
            <a:avLst/>
          </a:prstGeom>
          <a:solidFill>
            <a:srgbClr val="9AD2E6"/>
          </a:solidFill>
        </p:spPr>
      </p:sp>
      <p:sp>
        <p:nvSpPr>
          <p:cNvPr id="6" name="Text 4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</a:t>
            </a:r>
            <a:endParaRPr lang="en-US" sz="5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0B5E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5784</Words>
  <Application>WPS Presentation</Application>
  <PresentationFormat>On-screen Show (16:9)</PresentationFormat>
  <Paragraphs>279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srava</cp:lastModifiedBy>
  <cp:revision>2</cp:revision>
  <dcterms:created xsi:type="dcterms:W3CDTF">2026-07-23T18:04:00Z</dcterms:created>
  <dcterms:modified xsi:type="dcterms:W3CDTF">2026-07-24T09:34:29Z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0391AE05EE634E8AAA29CA91BFA6ED62_12</vt:lpwstr>
  </property>
</Properties>
</file>